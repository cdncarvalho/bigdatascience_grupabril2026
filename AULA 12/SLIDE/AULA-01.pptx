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96" r:id="rId4"/>
    <p:sldId id="262" r:id="rId5"/>
    <p:sldId id="263" r:id="rId6"/>
    <p:sldId id="265" r:id="rId7"/>
    <p:sldId id="264" r:id="rId8"/>
    <p:sldId id="284" r:id="rId9"/>
    <p:sldId id="289" r:id="rId10"/>
    <p:sldId id="290" r:id="rId11"/>
    <p:sldId id="257" r:id="rId12"/>
    <p:sldId id="260" r:id="rId13"/>
    <p:sldId id="261" r:id="rId14"/>
    <p:sldId id="258" r:id="rId15"/>
    <p:sldId id="279" r:id="rId16"/>
    <p:sldId id="278" r:id="rId17"/>
    <p:sldId id="283" r:id="rId18"/>
    <p:sldId id="292" r:id="rId19"/>
    <p:sldId id="293" r:id="rId20"/>
    <p:sldId id="291" r:id="rId21"/>
    <p:sldId id="266" r:id="rId22"/>
    <p:sldId id="270" r:id="rId23"/>
    <p:sldId id="271" r:id="rId24"/>
    <p:sldId id="272" r:id="rId25"/>
    <p:sldId id="273" r:id="rId26"/>
    <p:sldId id="274" r:id="rId27"/>
    <p:sldId id="275" r:id="rId28"/>
    <p:sldId id="294" r:id="rId29"/>
    <p:sldId id="285" r:id="rId30"/>
    <p:sldId id="286" r:id="rId31"/>
    <p:sldId id="259" r:id="rId32"/>
    <p:sldId id="267" r:id="rId33"/>
    <p:sldId id="268" r:id="rId34"/>
    <p:sldId id="287" r:id="rId35"/>
    <p:sldId id="295" r:id="rId36"/>
    <p:sldId id="276" r:id="rId37"/>
    <p:sldId id="281" r:id="rId38"/>
    <p:sldId id="277" r:id="rId39"/>
    <p:sldId id="282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678"/>
    <a:srgbClr val="3E1C58"/>
    <a:srgbClr val="2B133D"/>
    <a:srgbClr val="481F67"/>
    <a:srgbClr val="E55647"/>
    <a:srgbClr val="FF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94607" autoAdjust="0"/>
  </p:normalViewPr>
  <p:slideViewPr>
    <p:cSldViewPr snapToGrid="0">
      <p:cViewPr varScale="1">
        <p:scale>
          <a:sx n="104" d="100"/>
          <a:sy n="104" d="100"/>
        </p:scale>
        <p:origin x="57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60BF0-E186-518F-1E1D-78705595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993344"/>
            <a:ext cx="59436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  <a:latin typeface="Calibri (Corpo)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152E0-68EE-E5B7-E523-7E580C3C9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3837856"/>
            <a:ext cx="6985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7AC23D-1FD0-AF22-A94E-2CA7ADB4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0110EB-0165-632A-7E8F-701734A6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0F633E-4DFB-AE61-403B-55119AAD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28BCBFC7-9A74-9DE4-FAAD-B038C9576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89731" y="-4184935"/>
            <a:ext cx="14597920" cy="1513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2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D3C57-4834-1CF1-29D1-50B3FF2F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00062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673FB-0D19-CF64-54BB-0A5A233B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33D39B-58AA-63A1-BD25-F3BD86F0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99A6F4-DFDB-7BA0-05E7-21E8FD56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D37FEE-34EB-2CB9-180F-5B881A4C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E8879B13-C5EF-3E32-E5E3-A90BDE449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3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FF22A-8725-4593-543C-F8BC1BA9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656284-CDDA-2699-8F71-C44BA1CD0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270A7A-8D7A-16B3-BF11-BC170398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A35C9-2AAD-E862-578E-785CF6C3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80CF41-0F6A-906A-1CE0-B53E0F2E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74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362B7-F37E-A0F1-BD01-7F27DFE1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91EF72-13BD-9D9F-19F0-9E18E157B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E443B5-3191-BAF0-C282-7C7DD7C5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B60767-1B71-E2DF-D4FE-BA6B27CE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E9CED1-FE12-6BC4-6061-B242411E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7EA434-19CA-25FE-2E8B-8E05E02B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B08436F-62D1-4C45-98B5-E49CA343F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23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0AD1F-4D28-B4D0-EAF5-CF425602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2CF9BC-299A-7614-8074-1542C7FCD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AEB829-FF09-DD77-9639-95D98EC91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4B7B27-9374-75BA-8ECF-E116700A3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319631-E658-0C37-FDDC-083C736E4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75CD7F-4DD9-7C7B-9213-5894984A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EF05CA-46D2-3499-F4FD-7948BD8DB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F6A310-C752-8436-DDFB-2A9A6115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C64603F-D6C2-D0EF-6541-9D919858B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2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39C45-CB15-906F-03EC-932A09E9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2CE409-2E01-740A-B369-6DD9BA51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3B8FEB-E0C7-4840-19AD-F5B3AA48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89C22E-3BA5-0C8F-587C-75A9B1EE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7D18B99-61BD-C263-3BFC-DB3EAD9CD4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8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AA60FD-6890-CD2D-BDD7-C848EC89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AE6C8B-63B3-C7F7-8D84-BF1A23EA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75635A-AD50-FCCC-02EA-C421A2E9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02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046A7-63AB-9CCD-575B-FECA96B8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6B3E6-CE3B-EDF6-66C7-9BB92C722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6A08B7-ACC7-D7EE-6E46-DBACD89DF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075722-F10F-A9F0-474B-FCA92770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D6B2EE-A32A-C788-CDAB-8AAE92B9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8EF7CA-9EB5-4802-5AFB-D69A9C54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8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2B2EE-E843-F90D-E91C-2A6464B8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6A0FF1-229E-1A8E-DB62-8DE33FC6E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155C13-514E-9CB7-EA9A-9BC08D3E5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2071CD-B696-5F37-98DD-DD0C11B8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7E6CC3-B5B7-3598-501A-F89F9077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70DBEF-BD9C-2DC0-C291-596BB586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45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F0D47-1338-FCDB-1D8D-A9B7FB27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B7D427-94BE-2D2D-BF7F-EC45CFDC8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25E8E0-4188-8E5D-B9EC-B09298E4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EF9F66-119D-9C36-6954-AF3338DF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B4A1A9-D9D7-200B-D325-C841DCD6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4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1227E0-99DF-3AF8-5DB3-CAE39EF37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5DBCF6-FB3A-7BA0-4E96-51E540AB2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6FFAC5-EF1C-2A01-8D68-031D928E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A2C3B7-F4DB-0737-AF40-48A9A76B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A69F1-EBBA-298D-411C-3EF6DEE0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21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C1D1A9-5E18-68D3-6353-E03DDBE1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3626FB-D30B-884B-7B91-AE3F91E04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4C5A8B-100C-85CF-5BF0-3DD574520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C00DD-FE9E-4A11-977D-833523C8CBBB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55F0E5-5FA9-50DD-D963-9C172DCF6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6B9F65-47C9-E4E1-75E3-8E6DF1F19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50747-5A4D-473D-AA2E-EFB01A6656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66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1">
              <a:lumMod val="50000"/>
            </a:schemeClr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15B00-D6FE-105C-3A5D-679B5BB34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676275"/>
            <a:ext cx="6400800" cy="2647519"/>
          </a:xfrm>
        </p:spPr>
        <p:txBody>
          <a:bodyPr>
            <a:normAutofit/>
          </a:bodyPr>
          <a:lstStyle/>
          <a:p>
            <a:r>
              <a:rPr lang="pt-BR" sz="4800" i="0" u="none" strike="noStrike" baseline="0" dirty="0">
                <a:solidFill>
                  <a:schemeClr val="accent5">
                    <a:lumMod val="50000"/>
                  </a:schemeClr>
                </a:solidFill>
              </a:rPr>
              <a:t>Criar e manipular dados utilizando matemática estatística 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537C7D-1AB4-CB06-C990-1AA2B3AC9F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41474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BAF1A-CAC3-9E10-9CAD-10D25B19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792" y="500062"/>
            <a:ext cx="10868608" cy="1325563"/>
          </a:xfrm>
        </p:spPr>
        <p:txBody>
          <a:bodyPr/>
          <a:lstStyle/>
          <a:p>
            <a:r>
              <a:rPr lang="pt-BR" dirty="0"/>
              <a:t>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0D1FD-8044-1842-F273-6F891A477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92" y="1825625"/>
            <a:ext cx="10868608" cy="4351338"/>
          </a:xfrm>
        </p:spPr>
        <p:txBody>
          <a:bodyPr>
            <a:normAutofit/>
          </a:bodyPr>
          <a:lstStyle/>
          <a:p>
            <a:r>
              <a:rPr lang="pt-BR" sz="2600" dirty="0"/>
              <a:t>É a parte da matemática, que estuda </a:t>
            </a:r>
            <a:r>
              <a:rPr lang="pt-BR" sz="2600" b="1" dirty="0"/>
              <a:t>os métodos </a:t>
            </a:r>
            <a:r>
              <a:rPr lang="pt-BR" sz="2600" dirty="0"/>
              <a:t>para </a:t>
            </a:r>
            <a:r>
              <a:rPr lang="pt-BR" sz="2600" u="sng" dirty="0"/>
              <a:t>coletar</a:t>
            </a:r>
            <a:r>
              <a:rPr lang="pt-BR" sz="2600" dirty="0"/>
              <a:t> </a:t>
            </a:r>
            <a:r>
              <a:rPr lang="pt-BR" sz="2600" u="sng" dirty="0"/>
              <a:t>organizar</a:t>
            </a:r>
            <a:r>
              <a:rPr lang="pt-BR" sz="2600" dirty="0"/>
              <a:t> e </a:t>
            </a:r>
            <a:r>
              <a:rPr lang="pt-BR" sz="2600" u="sng" dirty="0"/>
              <a:t>analisar</a:t>
            </a:r>
            <a:r>
              <a:rPr lang="pt-BR" sz="2600" dirty="0"/>
              <a:t> </a:t>
            </a:r>
            <a:r>
              <a:rPr lang="pt-BR" sz="2600" u="sng" dirty="0"/>
              <a:t>dados</a:t>
            </a:r>
            <a:r>
              <a:rPr lang="pt-BR" sz="2600" dirty="0"/>
              <a:t> de diferentes áreas </a:t>
            </a:r>
            <a:r>
              <a:rPr lang="pt-BR" sz="2600" b="1" dirty="0"/>
              <a:t>visando a tomada de decisões</a:t>
            </a:r>
            <a:r>
              <a:rPr lang="pt-BR" sz="2600" dirty="0"/>
              <a:t>. </a:t>
            </a:r>
          </a:p>
          <a:p>
            <a:r>
              <a:rPr lang="pt-BR" sz="2600" dirty="0"/>
              <a:t>Realizamos pesquisas estatísticas, quando pretendemos estudar um certo conjunto de elementos </a:t>
            </a:r>
          </a:p>
        </p:txBody>
      </p:sp>
    </p:spTree>
    <p:extLst>
      <p:ext uri="{BB962C8B-B14F-4D97-AF65-F5344CB8AC3E}">
        <p14:creationId xmlns:p14="http://schemas.microsoft.com/office/powerpoint/2010/main" val="216064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E8938-C1FB-7F6E-9F1B-5A4413FC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59" y="500062"/>
            <a:ext cx="10946167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População, Censo, Amostragem e Amostra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CE63CA-E1C3-5E3C-8DFB-CACE1DB8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59" y="1831328"/>
            <a:ext cx="10715841" cy="4351338"/>
          </a:xfrm>
        </p:spPr>
        <p:txBody>
          <a:bodyPr>
            <a:normAutofit/>
          </a:bodyPr>
          <a:lstStyle/>
          <a:p>
            <a:r>
              <a:rPr lang="pt-BR" sz="2500" b="1" dirty="0"/>
              <a:t>População</a:t>
            </a:r>
            <a:r>
              <a:rPr lang="pt-BR" sz="2500" dirty="0"/>
              <a:t>: É o </a:t>
            </a:r>
            <a:r>
              <a:rPr lang="pt-BR" sz="2500" b="1" dirty="0"/>
              <a:t>conjunto total</a:t>
            </a:r>
            <a:r>
              <a:rPr lang="pt-BR" sz="2500" dirty="0"/>
              <a:t> de elementos que queremos estudar.</a:t>
            </a:r>
            <a:br>
              <a:rPr lang="pt-BR" sz="2500" dirty="0"/>
            </a:br>
            <a:r>
              <a:rPr lang="pt-BR" sz="2500" dirty="0"/>
              <a:t>Exemplo: todos os alunos de uma escola ou todos os moradores de uma cidade.</a:t>
            </a:r>
          </a:p>
          <a:p>
            <a:r>
              <a:rPr lang="pt-BR" sz="2500" b="1" dirty="0"/>
              <a:t>Censo</a:t>
            </a:r>
            <a:r>
              <a:rPr lang="pt-BR" sz="2500" dirty="0"/>
              <a:t>: É o estudo feito com </a:t>
            </a:r>
            <a:r>
              <a:rPr lang="pt-BR" sz="2500" b="1" dirty="0"/>
              <a:t>toda a população</a:t>
            </a:r>
            <a:r>
              <a:rPr lang="pt-BR" sz="2500" dirty="0"/>
              <a:t>, sem exceção.</a:t>
            </a:r>
            <a:br>
              <a:rPr lang="pt-BR" sz="2500" dirty="0"/>
            </a:br>
            <a:r>
              <a:rPr lang="pt-BR" sz="2500" dirty="0"/>
              <a:t>Exemplo: entrevistar </a:t>
            </a:r>
            <a:r>
              <a:rPr lang="pt-BR" sz="2500" b="1" dirty="0"/>
              <a:t>todos</a:t>
            </a:r>
            <a:r>
              <a:rPr lang="pt-BR" sz="2500" dirty="0"/>
              <a:t> os alunos da escola para saber a idade média.</a:t>
            </a:r>
          </a:p>
          <a:p>
            <a:r>
              <a:rPr lang="pt-BR" sz="2500" b="1" dirty="0"/>
              <a:t>Amostragem</a:t>
            </a:r>
            <a:r>
              <a:rPr lang="pt-BR" sz="2500" dirty="0"/>
              <a:t>: É o </a:t>
            </a:r>
            <a:r>
              <a:rPr lang="pt-BR" sz="2500" b="1" dirty="0"/>
              <a:t>processo de escolher uma parte da população</a:t>
            </a:r>
            <a:r>
              <a:rPr lang="pt-BR" sz="2500" dirty="0"/>
              <a:t> para realizar o estudo, quando não é possível analisar todos.</a:t>
            </a:r>
          </a:p>
          <a:p>
            <a:r>
              <a:rPr lang="pt-BR" sz="2500" b="1" dirty="0"/>
              <a:t>Amostra</a:t>
            </a:r>
            <a:r>
              <a:rPr lang="pt-BR" sz="2500" dirty="0"/>
              <a:t>: É o </a:t>
            </a:r>
            <a:r>
              <a:rPr lang="pt-BR" sz="2500" b="1" dirty="0"/>
              <a:t>grupo menor</a:t>
            </a:r>
            <a:r>
              <a:rPr lang="pt-BR" sz="2500" dirty="0"/>
              <a:t>, retirado da população, que será realmente analisado.</a:t>
            </a:r>
            <a:br>
              <a:rPr lang="pt-BR" sz="2500" dirty="0"/>
            </a:br>
            <a:r>
              <a:rPr lang="pt-BR" sz="2500" dirty="0" err="1"/>
              <a:t>Ex</a:t>
            </a:r>
            <a:r>
              <a:rPr lang="pt-BR" sz="2500" dirty="0"/>
              <a:t>: entrevistar 50 alunos escolhidos entre todos da escola.</a:t>
            </a:r>
          </a:p>
        </p:txBody>
      </p:sp>
    </p:spTree>
    <p:extLst>
      <p:ext uri="{BB962C8B-B14F-4D97-AF65-F5344CB8AC3E}">
        <p14:creationId xmlns:p14="http://schemas.microsoft.com/office/powerpoint/2010/main" val="241832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5E96991-BCC3-3A66-FDD2-4FCEF969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095"/>
            <a:ext cx="10515600" cy="1325563"/>
          </a:xfrm>
        </p:spPr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BDF24C-348A-A285-8B1C-61147850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658"/>
            <a:ext cx="10515600" cy="4463305"/>
          </a:xfrm>
        </p:spPr>
        <p:txBody>
          <a:bodyPr>
            <a:normAutofit/>
          </a:bodyPr>
          <a:lstStyle/>
          <a:p>
            <a:r>
              <a:rPr lang="pt-BR" sz="2600" dirty="0"/>
              <a:t>No universo da estatística, mas precisamente </a:t>
            </a:r>
            <a:r>
              <a:rPr lang="pt-BR" sz="2600" b="1" dirty="0"/>
              <a:t>no campo da Pesquisa</a:t>
            </a:r>
            <a:r>
              <a:rPr lang="pt-BR" sz="2600" dirty="0"/>
              <a:t>, </a:t>
            </a:r>
            <a:r>
              <a:rPr lang="pt-BR" sz="2600" b="1" u="sng" dirty="0"/>
              <a:t>uma</a:t>
            </a:r>
            <a:r>
              <a:rPr lang="pt-BR" sz="2600" u="sng" dirty="0"/>
              <a:t> </a:t>
            </a:r>
            <a:r>
              <a:rPr lang="pt-BR" sz="2600" b="1" u="sng" dirty="0"/>
              <a:t>variável</a:t>
            </a:r>
            <a:r>
              <a:rPr lang="pt-BR" sz="2600" dirty="0"/>
              <a:t> é uma </a:t>
            </a:r>
            <a:r>
              <a:rPr lang="pt-BR" sz="2600" b="1" dirty="0"/>
              <a:t>condição</a:t>
            </a:r>
            <a:r>
              <a:rPr lang="pt-BR" sz="2600" dirty="0"/>
              <a:t> ou </a:t>
            </a:r>
            <a:r>
              <a:rPr lang="pt-BR" sz="2600" b="1" dirty="0"/>
              <a:t>característica</a:t>
            </a:r>
            <a:r>
              <a:rPr lang="pt-BR" sz="2600" dirty="0"/>
              <a:t> dos elementos da </a:t>
            </a:r>
            <a:r>
              <a:rPr lang="pt-BR" sz="2600" b="1" dirty="0"/>
              <a:t>população</a:t>
            </a:r>
            <a:r>
              <a:rPr lang="pt-BR" sz="2600" dirty="0"/>
              <a:t> estatística de um determinado objeto de estudo. </a:t>
            </a:r>
          </a:p>
          <a:p>
            <a:r>
              <a:rPr lang="pt-BR" sz="2600" dirty="0"/>
              <a:t>Variáveis podem ser entendidas como </a:t>
            </a:r>
            <a:r>
              <a:rPr lang="pt-BR" sz="2600" b="1" dirty="0"/>
              <a:t>classificação, medida, quantidade de resultados possíveis</a:t>
            </a:r>
            <a:r>
              <a:rPr lang="pt-BR" sz="2600" dirty="0"/>
              <a:t> etc. </a:t>
            </a:r>
          </a:p>
          <a:p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404757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D68E9-F463-D2A9-8076-C86DDCD5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32" y="268155"/>
            <a:ext cx="10515600" cy="1325563"/>
          </a:xfrm>
        </p:spPr>
        <p:txBody>
          <a:bodyPr>
            <a:normAutofit/>
          </a:bodyPr>
          <a:lstStyle/>
          <a:p>
            <a:r>
              <a:rPr lang="pt-BR" sz="4400" dirty="0"/>
              <a:t>Variáveis Quantitativas e Qualitativas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A1DEBB0-286D-A6F9-4529-90E1FD409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735" y="1273970"/>
            <a:ext cx="5650438" cy="639497"/>
          </a:xfrm>
        </p:spPr>
        <p:txBody>
          <a:bodyPr/>
          <a:lstStyle/>
          <a:p>
            <a:r>
              <a:rPr lang="pt-BR" dirty="0"/>
              <a:t>Qualitativas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5DB57E-C9B9-276D-BB7B-B2680598C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1734" y="1913467"/>
            <a:ext cx="5675842" cy="4276196"/>
          </a:xfrm>
        </p:spPr>
        <p:txBody>
          <a:bodyPr>
            <a:normAutofit lnSpcReduction="10000"/>
          </a:bodyPr>
          <a:lstStyle/>
          <a:p>
            <a:r>
              <a:rPr lang="pt-BR" i="1" dirty="0"/>
              <a:t>Descrevem atributos ou características e são representadas por </a:t>
            </a:r>
            <a:r>
              <a:rPr lang="pt-BR" i="1" u="sng" dirty="0"/>
              <a:t>categorias</a:t>
            </a:r>
            <a:r>
              <a:rPr lang="pt-BR" i="1" dirty="0"/>
              <a:t> ou </a:t>
            </a:r>
            <a:r>
              <a:rPr lang="pt-BR" i="1" u="sng" dirty="0"/>
              <a:t>rótulos</a:t>
            </a:r>
            <a:r>
              <a:rPr lang="pt-BR" i="1" dirty="0"/>
              <a:t>. 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</a:p>
          <a:p>
            <a:pPr lvl="1"/>
            <a:r>
              <a:rPr lang="pt-BR" sz="2800" dirty="0"/>
              <a:t>cores, tipos de produtos, marcas, classe sociais, nível escolar etc.</a:t>
            </a:r>
          </a:p>
          <a:p>
            <a:pPr lvl="1"/>
            <a:r>
              <a:rPr lang="pt-BR" sz="2800" dirty="0"/>
              <a:t>Elas</a:t>
            </a:r>
            <a:r>
              <a:rPr lang="pt-BR" sz="2800" b="1" dirty="0"/>
              <a:t> qualificam os dados.</a:t>
            </a:r>
          </a:p>
          <a:p>
            <a:r>
              <a:rPr lang="pt-BR" u="sng" dirty="0"/>
              <a:t>Na maioria das vezes</a:t>
            </a:r>
            <a:r>
              <a:rPr lang="pt-BR" dirty="0"/>
              <a:t>, quando a variável, se refere a </a:t>
            </a:r>
            <a:r>
              <a:rPr lang="pt-BR" u="sng" dirty="0"/>
              <a:t>textos</a:t>
            </a:r>
            <a:r>
              <a:rPr lang="pt-BR" dirty="0"/>
              <a:t>.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B4B1B141-63F8-09B5-A70C-DE2E56574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9830" y="1273970"/>
            <a:ext cx="5183188" cy="639497"/>
          </a:xfrm>
        </p:spPr>
        <p:txBody>
          <a:bodyPr/>
          <a:lstStyle/>
          <a:p>
            <a:r>
              <a:rPr lang="pt-BR" dirty="0"/>
              <a:t>Quantitativas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65D8840-5EB3-48A3-8E0A-B1DE2FC00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2171" y="1913467"/>
            <a:ext cx="6084362" cy="4276196"/>
          </a:xfrm>
        </p:spPr>
        <p:txBody>
          <a:bodyPr>
            <a:normAutofit lnSpcReduction="10000"/>
          </a:bodyPr>
          <a:lstStyle/>
          <a:p>
            <a:r>
              <a:rPr lang="pt-BR" i="1" dirty="0"/>
              <a:t>Representam valores numéricos e podem ser </a:t>
            </a:r>
            <a:r>
              <a:rPr lang="pt-BR" i="1" u="sng" dirty="0"/>
              <a:t>medidas</a:t>
            </a:r>
            <a:r>
              <a:rPr lang="pt-BR" i="1" dirty="0"/>
              <a:t> ou </a:t>
            </a:r>
            <a:r>
              <a:rPr lang="pt-BR" i="1" u="sng" dirty="0"/>
              <a:t>contadas</a:t>
            </a:r>
            <a:r>
              <a:rPr lang="pt-BR" i="1" dirty="0"/>
              <a:t>.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Contagens de objetos ou eventos, Número de alunos, produtos vendidos</a:t>
            </a:r>
          </a:p>
          <a:p>
            <a:pPr lvl="1"/>
            <a:r>
              <a:rPr lang="pt-BR" dirty="0"/>
              <a:t>Altura, peso, hora, minutos</a:t>
            </a:r>
          </a:p>
          <a:p>
            <a:pPr lvl="1"/>
            <a:r>
              <a:rPr lang="pt-BR" dirty="0"/>
              <a:t>Elas </a:t>
            </a:r>
            <a:r>
              <a:rPr lang="pt-BR" b="1" dirty="0"/>
              <a:t>quantificam informações</a:t>
            </a:r>
          </a:p>
          <a:p>
            <a:pPr lvl="1"/>
            <a:r>
              <a:rPr lang="pt-BR" dirty="0"/>
              <a:t>É possível realizar operações</a:t>
            </a:r>
            <a:endParaRPr lang="pt-BR" b="1" dirty="0"/>
          </a:p>
          <a:p>
            <a:r>
              <a:rPr lang="pt-BR" dirty="0"/>
              <a:t>Estão associadas a números.</a:t>
            </a:r>
          </a:p>
        </p:txBody>
      </p:sp>
    </p:spTree>
    <p:extLst>
      <p:ext uri="{BB962C8B-B14F-4D97-AF65-F5344CB8AC3E}">
        <p14:creationId xmlns:p14="http://schemas.microsoft.com/office/powerpoint/2010/main" val="43615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C701E-5E4E-F0EB-B820-18320E78D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8" y="365125"/>
            <a:ext cx="11067520" cy="1325563"/>
          </a:xfrm>
        </p:spPr>
        <p:txBody>
          <a:bodyPr/>
          <a:lstStyle/>
          <a:p>
            <a:r>
              <a:rPr lang="pt-BR" dirty="0"/>
              <a:t>Variáveis Quantitativas: </a:t>
            </a:r>
            <a:r>
              <a:rPr lang="pt-BR" dirty="0">
                <a:solidFill>
                  <a:srgbClr val="FF0000"/>
                </a:solidFill>
              </a:rPr>
              <a:t>2 tipos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BBC274-22AE-1A34-6B00-C9980C321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868" y="1179513"/>
            <a:ext cx="5709708" cy="971020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Discreta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C35B3F-9897-438B-9DDA-99DCFDC4D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7868" y="2150533"/>
            <a:ext cx="5709707" cy="4039130"/>
          </a:xfrm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FF0000"/>
                </a:solidFill>
              </a:rPr>
              <a:t>Número natural inteiro.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Quantidade de objetos,  </a:t>
            </a:r>
          </a:p>
          <a:p>
            <a:pPr lvl="1"/>
            <a:r>
              <a:rPr lang="pt-BR" dirty="0"/>
              <a:t>Total de votos, </a:t>
            </a:r>
          </a:p>
          <a:p>
            <a:pPr lvl="1"/>
            <a:r>
              <a:rPr lang="pt-BR" dirty="0"/>
              <a:t>Número de filhos etc.</a:t>
            </a:r>
          </a:p>
          <a:p>
            <a:r>
              <a:rPr lang="pt-BR" dirty="0"/>
              <a:t>Representam contagens de objetos. </a:t>
            </a:r>
            <a:r>
              <a:rPr lang="pt-BR" b="1" dirty="0"/>
              <a:t>Não podem</a:t>
            </a:r>
            <a:r>
              <a:rPr lang="pt-BR" dirty="0"/>
              <a:t> assumir </a:t>
            </a:r>
            <a:r>
              <a:rPr lang="pt-BR" u="sng" dirty="0"/>
              <a:t>valores fracionários</a:t>
            </a:r>
            <a:r>
              <a:rPr lang="pt-BR" dirty="0"/>
              <a:t>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C13E0F-B8E7-1A4B-86E0-3EEBDFAC6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9512"/>
            <a:ext cx="5183188" cy="971019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Contínua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17C658-27A9-A8D7-3813-132843A46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150533"/>
            <a:ext cx="5731933" cy="403913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Podem assumir qualquer valor em um intervalo, incluindo </a:t>
            </a:r>
            <a:r>
              <a:rPr lang="pt-BR" b="1" dirty="0">
                <a:solidFill>
                  <a:srgbClr val="FF0000"/>
                </a:solidFill>
              </a:rPr>
              <a:t>frações</a:t>
            </a:r>
            <a:r>
              <a:rPr lang="pt-BR" dirty="0">
                <a:solidFill>
                  <a:srgbClr val="FF0000"/>
                </a:solidFill>
              </a:rPr>
              <a:t> e </a:t>
            </a:r>
            <a:r>
              <a:rPr lang="pt-BR" b="1" dirty="0">
                <a:solidFill>
                  <a:srgbClr val="FF0000"/>
                </a:solidFill>
              </a:rPr>
              <a:t>decimais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  <a:p>
            <a:r>
              <a:rPr lang="pt-BR" b="1" dirty="0"/>
              <a:t>Exemplo</a:t>
            </a:r>
            <a:r>
              <a:rPr lang="pt-BR" dirty="0"/>
              <a:t>:</a:t>
            </a:r>
          </a:p>
          <a:p>
            <a:pPr lvl="1"/>
            <a:r>
              <a:rPr lang="pt-BR" b="1" dirty="0"/>
              <a:t>Altura</a:t>
            </a:r>
            <a:r>
              <a:rPr lang="pt-BR" dirty="0"/>
              <a:t>: 1,75 metros.</a:t>
            </a:r>
          </a:p>
          <a:p>
            <a:pPr lvl="1"/>
            <a:r>
              <a:rPr lang="pt-BR" b="1" dirty="0"/>
              <a:t>Tempo</a:t>
            </a:r>
            <a:r>
              <a:rPr lang="pt-BR" dirty="0"/>
              <a:t> </a:t>
            </a:r>
            <a:r>
              <a:rPr lang="pt-BR" b="1" dirty="0"/>
              <a:t>gasto</a:t>
            </a:r>
            <a:r>
              <a:rPr lang="pt-BR" dirty="0"/>
              <a:t>: 2,5 horas.</a:t>
            </a:r>
          </a:p>
          <a:p>
            <a:pPr lvl="1"/>
            <a:r>
              <a:rPr lang="pt-BR" b="1" dirty="0"/>
              <a:t>Peso</a:t>
            </a:r>
            <a:r>
              <a:rPr lang="pt-BR" dirty="0"/>
              <a:t> 3,6 kg).</a:t>
            </a:r>
          </a:p>
          <a:p>
            <a:r>
              <a:rPr lang="pt-BR" dirty="0"/>
              <a:t>Quando é um número decimal, fracionário</a:t>
            </a:r>
          </a:p>
        </p:txBody>
      </p:sp>
    </p:spTree>
    <p:extLst>
      <p:ext uri="{BB962C8B-B14F-4D97-AF65-F5344CB8AC3E}">
        <p14:creationId xmlns:p14="http://schemas.microsoft.com/office/powerpoint/2010/main" val="97755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DE666-BBF8-1110-4BF1-E707AC0C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90" y="265905"/>
            <a:ext cx="10515600" cy="1325563"/>
          </a:xfrm>
        </p:spPr>
        <p:txBody>
          <a:bodyPr/>
          <a:lstStyle/>
          <a:p>
            <a:r>
              <a:rPr lang="pt-BR" dirty="0"/>
              <a:t>Variáveis Qualitativas: </a:t>
            </a:r>
            <a:r>
              <a:rPr lang="pt-BR" dirty="0">
                <a:solidFill>
                  <a:srgbClr val="FF0000"/>
                </a:solidFill>
              </a:rPr>
              <a:t>2 tipos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AFF831-A613-D5C9-F91D-54E83083B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599" y="1063170"/>
            <a:ext cx="5641976" cy="823913"/>
          </a:xfrm>
        </p:spPr>
        <p:txBody>
          <a:bodyPr/>
          <a:lstStyle/>
          <a:p>
            <a:r>
              <a:rPr lang="pt-BR" sz="3600" dirty="0">
                <a:solidFill>
                  <a:srgbClr val="FF0000"/>
                </a:solidFill>
              </a:rPr>
              <a:t>Ordinal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B5D702-6FA4-C732-0071-58066AA86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5600" y="2003425"/>
            <a:ext cx="5641975" cy="41862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Está relacionada a uma </a:t>
            </a:r>
            <a:r>
              <a:rPr lang="pt-BR" dirty="0">
                <a:solidFill>
                  <a:srgbClr val="FF0000"/>
                </a:solidFill>
              </a:rPr>
              <a:t>ordem e/ou hierarquia. 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</a:p>
          <a:p>
            <a:pPr lvl="1"/>
            <a:r>
              <a:rPr lang="pt-BR" b="1" i="1" dirty="0"/>
              <a:t>Nível de Escolaridade</a:t>
            </a:r>
            <a:r>
              <a:rPr lang="pt-BR" dirty="0"/>
              <a:t>: </a:t>
            </a:r>
            <a:r>
              <a:rPr lang="pt-BR" i="1" dirty="0"/>
              <a:t>Fundamental, Ensino Médio ou Superior</a:t>
            </a:r>
            <a:r>
              <a:rPr lang="pt-BR" dirty="0"/>
              <a:t>. </a:t>
            </a:r>
          </a:p>
          <a:p>
            <a:pPr lvl="1"/>
            <a:r>
              <a:rPr lang="pt-BR" b="1" i="1" dirty="0"/>
              <a:t>Classe social</a:t>
            </a:r>
            <a:r>
              <a:rPr lang="pt-BR" i="1" dirty="0"/>
              <a:t>: baixa, média e alta</a:t>
            </a:r>
            <a:r>
              <a:rPr lang="pt-BR" dirty="0"/>
              <a:t>. </a:t>
            </a:r>
          </a:p>
          <a:p>
            <a:r>
              <a:rPr lang="pt-BR" dirty="0"/>
              <a:t>Representam uma ordem classificatória.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56CE1D-7CD0-3323-478D-64A55B83B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063169"/>
            <a:ext cx="5183188" cy="823913"/>
          </a:xfrm>
        </p:spPr>
        <p:txBody>
          <a:bodyPr/>
          <a:lstStyle/>
          <a:p>
            <a:r>
              <a:rPr lang="pt-BR" sz="3600" dirty="0">
                <a:solidFill>
                  <a:srgbClr val="FF0000"/>
                </a:solidFill>
              </a:rPr>
              <a:t>Nominal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26EA3A-4FCA-A4AB-6F82-C5FDE6B26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7575" y="2003425"/>
            <a:ext cx="6194425" cy="41862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Representam </a:t>
            </a:r>
            <a:r>
              <a:rPr lang="pt-BR" dirty="0">
                <a:solidFill>
                  <a:srgbClr val="FF0000"/>
                </a:solidFill>
              </a:rPr>
              <a:t>categorias, </a:t>
            </a:r>
            <a:r>
              <a:rPr lang="pt-BR" u="sng" dirty="0">
                <a:solidFill>
                  <a:srgbClr val="FF0000"/>
                </a:solidFill>
              </a:rPr>
              <a:t>sem uma ordem ou hierarquia</a:t>
            </a:r>
          </a:p>
          <a:p>
            <a:r>
              <a:rPr lang="pt-BR" dirty="0"/>
              <a:t>Descrever atributos ou características distintas, que não podem ser classificadas e não há uma ordenação.</a:t>
            </a:r>
          </a:p>
          <a:p>
            <a:pPr lvl="1"/>
            <a:r>
              <a:rPr lang="pt-BR" dirty="0"/>
              <a:t>Cores, Raças. </a:t>
            </a:r>
          </a:p>
          <a:p>
            <a:pPr lvl="1"/>
            <a:r>
              <a:rPr lang="pt-BR" dirty="0"/>
              <a:t>Tipos de Produtos: Eletrônicos, Roupas, Alimentos. Marcas: Nike, Adidas, Puma etc.</a:t>
            </a:r>
          </a:p>
          <a:p>
            <a:r>
              <a:rPr lang="pt-BR" dirty="0"/>
              <a:t>Não há ordem ou hierarquia</a:t>
            </a:r>
          </a:p>
        </p:txBody>
      </p:sp>
    </p:spTree>
    <p:extLst>
      <p:ext uri="{BB962C8B-B14F-4D97-AF65-F5344CB8AC3E}">
        <p14:creationId xmlns:p14="http://schemas.microsoft.com/office/powerpoint/2010/main" val="361210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398CC-473E-F3CC-006B-D2D51981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População e Amostra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B4A3-9147-D31E-654C-0DCB22FA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População</a:t>
            </a:r>
            <a:r>
              <a:rPr lang="pt-BR" dirty="0"/>
              <a:t> </a:t>
            </a:r>
          </a:p>
          <a:p>
            <a:r>
              <a:rPr lang="pt-BR" dirty="0"/>
              <a:t>É o conjunto de elementos que queremos pesquisar e apresenta alguma característica em comum. </a:t>
            </a:r>
          </a:p>
          <a:p>
            <a:r>
              <a:rPr lang="pt-BR" b="1" dirty="0"/>
              <a:t>Amostra</a:t>
            </a:r>
            <a:r>
              <a:rPr lang="pt-BR" dirty="0"/>
              <a:t> </a:t>
            </a:r>
          </a:p>
          <a:p>
            <a:r>
              <a:rPr lang="pt-BR" dirty="0"/>
              <a:t>É um subconjunto, uma parte da população que apresenta as mesmas características da população.</a:t>
            </a:r>
          </a:p>
        </p:txBody>
      </p:sp>
    </p:spTree>
    <p:extLst>
      <p:ext uri="{BB962C8B-B14F-4D97-AF65-F5344CB8AC3E}">
        <p14:creationId xmlns:p14="http://schemas.microsoft.com/office/powerpoint/2010/main" val="163020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83AFF53-379A-F693-509E-9FAB5D0AB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A10443A5-9595-6A8C-A8FF-CED8D8CB5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76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1143B-88A9-EF49-60B2-E66FB5DD3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487" y="1364382"/>
            <a:ext cx="8277225" cy="2387600"/>
          </a:xfrm>
        </p:spPr>
        <p:txBody>
          <a:bodyPr>
            <a:noAutofit/>
          </a:bodyPr>
          <a:lstStyle/>
          <a:p>
            <a:r>
              <a:rPr lang="pt-BR" sz="6600" dirty="0"/>
              <a:t>Ambiente de Desenvolvimento</a:t>
            </a:r>
            <a:br>
              <a:rPr lang="pt-BR" sz="6600" dirty="0"/>
            </a:br>
            <a:r>
              <a:rPr lang="pt-BR" sz="6600" dirty="0"/>
              <a:t>Virtual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AD1AFCB6-7140-52A6-270E-C53F3B925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599" y="4142656"/>
            <a:ext cx="6985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65873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5DB0F-1978-EC79-F35C-15F43EF1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VIRTUAL ENVIROMENTS </a:t>
            </a:r>
            <a:r>
              <a:rPr lang="pt-BR" b="0" dirty="0"/>
              <a:t>(</a:t>
            </a:r>
            <a:r>
              <a:rPr lang="pt-BR" b="0" dirty="0" err="1"/>
              <a:t>venv</a:t>
            </a:r>
            <a:r>
              <a:rPr lang="pt-BR" b="0" dirty="0"/>
              <a:t>)</a:t>
            </a:r>
            <a:br>
              <a:rPr lang="pt-BR" b="0" dirty="0"/>
            </a:br>
            <a:r>
              <a:rPr lang="pt-BR" dirty="0"/>
              <a:t>Ambiente Virtual </a:t>
            </a:r>
            <a:endParaRPr lang="pt-BR" b="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47B21-4339-51AB-A52E-381C0768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1"/>
            <a:ext cx="10515600" cy="3581400"/>
          </a:xfrm>
        </p:spPr>
        <p:txBody>
          <a:bodyPr>
            <a:normAutofit/>
          </a:bodyPr>
          <a:lstStyle/>
          <a:p>
            <a:r>
              <a:rPr lang="pt-BR" dirty="0"/>
              <a:t>Espaço isolado para </a:t>
            </a:r>
            <a:r>
              <a:rPr lang="pt-BR" b="1" dirty="0"/>
              <a:t>instalar pacotes </a:t>
            </a:r>
            <a:r>
              <a:rPr lang="pt-BR" dirty="0"/>
              <a:t>e </a:t>
            </a:r>
            <a:r>
              <a:rPr lang="pt-BR" b="1" dirty="0"/>
              <a:t>dependências</a:t>
            </a:r>
            <a:r>
              <a:rPr lang="pt-BR" dirty="0"/>
              <a:t> de projetos </a:t>
            </a:r>
            <a:r>
              <a:rPr lang="pt-BR" u="sng" dirty="0"/>
              <a:t>sem afetar</a:t>
            </a:r>
            <a:r>
              <a:rPr lang="pt-BR" dirty="0"/>
              <a:t> a instalação global do Python ou outros projetos. </a:t>
            </a:r>
          </a:p>
          <a:p>
            <a:r>
              <a:rPr lang="pt-BR" dirty="0"/>
              <a:t>Essencial p/ gerenciar diferentes versões de pacotes e evitar conflitos entre as dependências.</a:t>
            </a:r>
          </a:p>
          <a:p>
            <a:endParaRPr lang="pt-BR" dirty="0"/>
          </a:p>
          <a:p>
            <a:endParaRPr lang="pt-BR" sz="1800" b="0" i="0" u="none" strike="noStrike" baseline="0" dirty="0">
              <a:latin typeface="Calibri" panose="020F0502020204030204" pitchFamily="34" charset="0"/>
            </a:endParaRPr>
          </a:p>
          <a:p>
            <a:r>
              <a:rPr lang="pt-BR" sz="3000" b="0" i="0" u="none" strike="noStrike" baseline="0" dirty="0">
                <a:solidFill>
                  <a:srgbClr val="1154CC"/>
                </a:solidFill>
                <a:latin typeface="Calibri" panose="020F0502020204030204" pitchFamily="34" charset="0"/>
              </a:rPr>
              <a:t>https://virtualenv.pypa.io/en/latest/index.html </a:t>
            </a:r>
            <a:r>
              <a:rPr lang="pt-BR" sz="3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837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87B55-FC56-CB41-F0A6-90FD173F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66" y="498291"/>
            <a:ext cx="10879667" cy="851116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chemeClr val="accent5">
                    <a:lumMod val="50000"/>
                  </a:schemeClr>
                </a:solidFill>
              </a:rPr>
              <a:t>AMBIENTE VIRTUAL </a:t>
            </a:r>
            <a:r>
              <a:rPr lang="pt-BR" sz="4000" b="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pt-BR" sz="4000" b="0" dirty="0" err="1">
                <a:solidFill>
                  <a:schemeClr val="accent5">
                    <a:lumMod val="50000"/>
                  </a:schemeClr>
                </a:solidFill>
              </a:rPr>
              <a:t>venv</a:t>
            </a:r>
            <a:r>
              <a:rPr lang="pt-BR" sz="4000" b="0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pt-BR" b="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98BF8-7CDC-A4F0-D5EC-427A90ED3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267" y="1562470"/>
            <a:ext cx="5401733" cy="4614493"/>
          </a:xfrm>
        </p:spPr>
        <p:txBody>
          <a:bodyPr>
            <a:normAutofit/>
          </a:bodyPr>
          <a:lstStyle/>
          <a:p>
            <a:r>
              <a:rPr lang="pt-BR" sz="2600" b="1" dirty="0"/>
              <a:t>Criar ambiente virtual:</a:t>
            </a:r>
          </a:p>
          <a:p>
            <a:pPr lvl="1"/>
            <a:r>
              <a:rPr lang="pt-BR" sz="2600" dirty="0" err="1"/>
              <a:t>python</a:t>
            </a:r>
            <a:r>
              <a:rPr lang="pt-BR" sz="2600" dirty="0"/>
              <a:t> -m </a:t>
            </a:r>
            <a:r>
              <a:rPr lang="pt-BR" sz="2600" dirty="0" err="1"/>
              <a:t>venv</a:t>
            </a:r>
            <a:r>
              <a:rPr lang="pt-BR" sz="2600" dirty="0"/>
              <a:t> </a:t>
            </a:r>
            <a:r>
              <a:rPr lang="pt-BR" sz="2600" dirty="0" err="1"/>
              <a:t>venv</a:t>
            </a:r>
            <a:endParaRPr lang="pt-BR" sz="2600" dirty="0"/>
          </a:p>
          <a:p>
            <a:r>
              <a:rPr lang="pt-BR" sz="2600" b="1" dirty="0"/>
              <a:t>Ativar ambiente virtual:</a:t>
            </a:r>
          </a:p>
          <a:p>
            <a:pPr lvl="1"/>
            <a:r>
              <a:rPr lang="pt-BR" sz="2600" dirty="0" err="1"/>
              <a:t>source</a:t>
            </a:r>
            <a:r>
              <a:rPr lang="pt-BR" sz="2600" dirty="0"/>
              <a:t> ./</a:t>
            </a:r>
            <a:r>
              <a:rPr lang="pt-BR" sz="2600" dirty="0" err="1"/>
              <a:t>venv</a:t>
            </a:r>
            <a:r>
              <a:rPr lang="pt-BR" sz="2600" dirty="0"/>
              <a:t>/Scripts/</a:t>
            </a:r>
            <a:r>
              <a:rPr lang="pt-BR" sz="2600" dirty="0" err="1"/>
              <a:t>activate</a:t>
            </a:r>
            <a:endParaRPr lang="pt-BR" sz="2600" dirty="0"/>
          </a:p>
          <a:p>
            <a:r>
              <a:rPr lang="pt-BR" sz="2600" dirty="0"/>
              <a:t> </a:t>
            </a:r>
            <a:r>
              <a:rPr lang="pt-BR" sz="2600" b="1" dirty="0"/>
              <a:t>(Feche e reabra o terminal)</a:t>
            </a:r>
          </a:p>
          <a:p>
            <a:r>
              <a:rPr lang="pt-BR" sz="2600" b="1" dirty="0"/>
              <a:t>Desativar o ambiente:</a:t>
            </a:r>
          </a:p>
          <a:p>
            <a:pPr lvl="1"/>
            <a:r>
              <a:rPr lang="pt-BR" sz="2600" dirty="0" err="1"/>
              <a:t>deactivate</a:t>
            </a:r>
            <a:endParaRPr lang="pt-BR" sz="2600" dirty="0"/>
          </a:p>
          <a:p>
            <a:endParaRPr lang="pt-BR" sz="26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13AA85-B8BE-4D00-FA4A-9709ED278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03410" y="1562470"/>
            <a:ext cx="6417733" cy="4620196"/>
          </a:xfrm>
        </p:spPr>
        <p:txBody>
          <a:bodyPr>
            <a:normAutofit/>
          </a:bodyPr>
          <a:lstStyle/>
          <a:p>
            <a:r>
              <a:rPr lang="pt-BR" sz="2600" b="1" dirty="0"/>
              <a:t>Gerar arquivos c/ nome das Dependências:</a:t>
            </a:r>
          </a:p>
          <a:p>
            <a:pPr lvl="1"/>
            <a:r>
              <a:rPr lang="pt-BR" sz="2600" dirty="0" err="1"/>
              <a:t>pip</a:t>
            </a:r>
            <a:r>
              <a:rPr lang="pt-BR" sz="2600" dirty="0"/>
              <a:t> </a:t>
            </a:r>
            <a:r>
              <a:rPr lang="pt-BR" sz="2600" dirty="0" err="1"/>
              <a:t>freeze</a:t>
            </a:r>
            <a:r>
              <a:rPr lang="pt-BR" sz="2600" dirty="0"/>
              <a:t> &gt; requirements.txt</a:t>
            </a:r>
          </a:p>
          <a:p>
            <a:r>
              <a:rPr lang="pt-BR" sz="2600" b="1" dirty="0"/>
              <a:t>Instalar as dependências do projeto via o requirements.txt</a:t>
            </a:r>
          </a:p>
          <a:p>
            <a:pPr lvl="1"/>
            <a:r>
              <a:rPr lang="pt-BR" sz="2600" dirty="0" err="1"/>
              <a:t>pip</a:t>
            </a:r>
            <a:r>
              <a:rPr lang="pt-BR" sz="2600" dirty="0"/>
              <a:t> </a:t>
            </a:r>
            <a:r>
              <a:rPr lang="pt-BR" sz="2600" dirty="0" err="1"/>
              <a:t>install</a:t>
            </a:r>
            <a:r>
              <a:rPr lang="pt-BR" sz="2600" dirty="0"/>
              <a:t> -r ./requirements.txt</a:t>
            </a:r>
          </a:p>
          <a:p>
            <a:r>
              <a:rPr lang="pt-BR" sz="2600" b="1" dirty="0"/>
              <a:t>Remover ambiente:</a:t>
            </a:r>
          </a:p>
          <a:p>
            <a:pPr lvl="1"/>
            <a:r>
              <a:rPr lang="pt-BR" sz="2600" dirty="0"/>
              <a:t> </a:t>
            </a:r>
            <a:r>
              <a:rPr lang="pt-BR" sz="2600" dirty="0" err="1"/>
              <a:t>rm</a:t>
            </a:r>
            <a:r>
              <a:rPr lang="pt-BR" sz="2600" dirty="0"/>
              <a:t> -</a:t>
            </a:r>
            <a:r>
              <a:rPr lang="pt-BR" sz="2600" dirty="0" err="1"/>
              <a:t>rf</a:t>
            </a:r>
            <a:r>
              <a:rPr lang="pt-BR" sz="2600" dirty="0"/>
              <a:t> </a:t>
            </a:r>
            <a:r>
              <a:rPr lang="pt-BR" sz="2600" dirty="0" err="1"/>
              <a:t>venv</a:t>
            </a:r>
            <a:endParaRPr lang="pt-BR" sz="2600" dirty="0"/>
          </a:p>
          <a:p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625023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EC83C-43D9-217A-01A2-87F39D5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requirements.txt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8627F94-1423-E514-3CD3-5C9A4198F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Arquivo que anota todas as dependências “bibliotecas” nele mesmo. </a:t>
            </a:r>
          </a:p>
          <a:p>
            <a:pPr lvl="1"/>
            <a:r>
              <a:rPr lang="pt-BR" sz="2800" dirty="0"/>
              <a:t>Facilita a instalação do mesmo projeto em outro computador.</a:t>
            </a:r>
          </a:p>
          <a:p>
            <a:pPr lvl="1"/>
            <a:r>
              <a:rPr lang="pt-BR" sz="2800" dirty="0"/>
              <a:t>Você não precisa levar, literalmente a instalação do projeto para outro PC, </a:t>
            </a:r>
            <a:r>
              <a:rPr lang="pt-BR" sz="2800" b="1" dirty="0"/>
              <a:t>MAS precisará dos códigos do seu projeto </a:t>
            </a:r>
            <a:r>
              <a:rPr lang="pt-BR" sz="2800" dirty="0"/>
              <a:t>e executar o comando.</a:t>
            </a:r>
          </a:p>
          <a:p>
            <a:pPr lvl="1"/>
            <a:endParaRPr lang="pt-BR" b="1" dirty="0"/>
          </a:p>
          <a:p>
            <a:pPr lvl="1"/>
            <a:r>
              <a:rPr lang="pt-BR" sz="3200" b="1" dirty="0" err="1"/>
              <a:t>pip</a:t>
            </a:r>
            <a:r>
              <a:rPr lang="pt-BR" sz="3200" b="1" dirty="0"/>
              <a:t> </a:t>
            </a:r>
            <a:r>
              <a:rPr lang="pt-BR" sz="3200" b="1" dirty="0" err="1"/>
              <a:t>install</a:t>
            </a:r>
            <a:r>
              <a:rPr lang="pt-BR" sz="3200" b="1" dirty="0"/>
              <a:t> -r ./requirements.txt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6828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79875-C81A-F465-A461-537AF039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6580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Utilizar VENV que está em outro local:</a:t>
            </a: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58370A-85E4-64A1-A052-F6C07BEE0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71396"/>
            <a:ext cx="10515599" cy="3465804"/>
          </a:xfrm>
        </p:spPr>
        <p:txBody>
          <a:bodyPr/>
          <a:lstStyle/>
          <a:p>
            <a:r>
              <a:rPr lang="pt-BR" b="1" dirty="0"/>
              <a:t>Utilizar VENV de outro local:</a:t>
            </a:r>
          </a:p>
          <a:p>
            <a:r>
              <a:rPr lang="pt-BR" dirty="0" err="1"/>
              <a:t>source</a:t>
            </a:r>
            <a:r>
              <a:rPr lang="pt-BR" dirty="0"/>
              <a:t>  /e/</a:t>
            </a:r>
            <a:r>
              <a:rPr lang="pt-BR" dirty="0" err="1"/>
              <a:t>ambiente_virtual_python</a:t>
            </a:r>
            <a:r>
              <a:rPr lang="pt-BR" dirty="0"/>
              <a:t>/</a:t>
            </a:r>
            <a:r>
              <a:rPr lang="pt-BR" dirty="0" err="1"/>
              <a:t>venv</a:t>
            </a:r>
            <a:r>
              <a:rPr lang="pt-BR" dirty="0"/>
              <a:t>/Scripts/</a:t>
            </a:r>
            <a:r>
              <a:rPr lang="pt-BR" dirty="0" err="1"/>
              <a:t>activate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08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6EAD44B-9C4C-BA12-F263-FC14AD20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Virtual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6C8436-BE4F-DB23-1D79-D0F2E0E00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Excluir o primeiro </a:t>
            </a:r>
            <a:r>
              <a:rPr lang="pt-BR" dirty="0" err="1"/>
              <a:t>ambiente_virtual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396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FEA76-BCF0-DCF1-8667-7C861A0C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059"/>
            <a:ext cx="10515600" cy="1325563"/>
          </a:xfrm>
        </p:spPr>
        <p:txBody>
          <a:bodyPr/>
          <a:lstStyle/>
          <a:p>
            <a:r>
              <a:rPr lang="pt-BR" dirty="0" err="1"/>
              <a:t>DataSets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723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681931-AB7C-72B9-DD5A-B2A4CBD6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7662"/>
            <a:ext cx="10515600" cy="1325563"/>
          </a:xfrm>
        </p:spPr>
        <p:txBody>
          <a:bodyPr/>
          <a:lstStyle/>
          <a:p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b="0" dirty="0"/>
              <a:t>(Conjunto de Dados)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19B813-E7A8-333E-0586-932A62A46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6267"/>
            <a:ext cx="11082867" cy="4720696"/>
          </a:xfrm>
        </p:spPr>
        <p:txBody>
          <a:bodyPr>
            <a:normAutofit/>
          </a:bodyPr>
          <a:lstStyle/>
          <a:p>
            <a:r>
              <a:rPr lang="pt-BR" dirty="0"/>
              <a:t>Coleção estruturada de informações relacionadas. </a:t>
            </a:r>
          </a:p>
          <a:p>
            <a:r>
              <a:rPr lang="pt-BR" dirty="0"/>
              <a:t>Pode ser uma </a:t>
            </a:r>
            <a:r>
              <a:rPr lang="pt-BR" b="1" dirty="0"/>
              <a:t>tabela (linhas e colunas), </a:t>
            </a:r>
            <a:r>
              <a:rPr lang="pt-BR" dirty="0"/>
              <a:t>ou uma coleção de tabelas em uma base de dados.</a:t>
            </a:r>
          </a:p>
          <a:p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lvl="1"/>
            <a:r>
              <a:rPr lang="pt-BR" b="1" dirty="0"/>
              <a:t>Uma planilha de Excel </a:t>
            </a:r>
            <a:r>
              <a:rPr lang="pt-BR" dirty="0"/>
              <a:t>| </a:t>
            </a:r>
            <a:r>
              <a:rPr lang="pt-BR" b="1" dirty="0"/>
              <a:t>Arquivo CSV com dados de clientes  </a:t>
            </a:r>
            <a:r>
              <a:rPr lang="pt-BR" dirty="0"/>
              <a:t>| </a:t>
            </a:r>
            <a:r>
              <a:rPr lang="pt-BR" b="1" dirty="0"/>
              <a:t>Dados coletados de sensores, pesquisas ou sistemas</a:t>
            </a:r>
            <a:r>
              <a:rPr lang="pt-BR" dirty="0"/>
              <a:t>.</a:t>
            </a:r>
          </a:p>
          <a:p>
            <a:r>
              <a:rPr lang="pt-BR" b="1" dirty="0"/>
              <a:t>No caso das </a:t>
            </a:r>
            <a:r>
              <a:rPr lang="pt-BR" b="1" dirty="0" err="1"/>
              <a:t>estrutras</a:t>
            </a:r>
            <a:r>
              <a:rPr lang="pt-BR" b="1" dirty="0"/>
              <a:t>: Características</a:t>
            </a:r>
            <a:r>
              <a:rPr lang="pt-BR" dirty="0"/>
              <a:t>:    </a:t>
            </a:r>
          </a:p>
          <a:p>
            <a:pPr lvl="1"/>
            <a:r>
              <a:rPr lang="pt-BR" dirty="0"/>
              <a:t>Contém linhas (chamadas de </a:t>
            </a:r>
            <a:r>
              <a:rPr lang="pt-BR" b="1" dirty="0"/>
              <a:t>registros</a:t>
            </a:r>
            <a:r>
              <a:rPr lang="pt-BR" dirty="0"/>
              <a:t> ou </a:t>
            </a:r>
            <a:r>
              <a:rPr lang="pt-BR" b="1" dirty="0"/>
              <a:t>amostras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Contém colunas (chamadas de </a:t>
            </a:r>
            <a:r>
              <a:rPr lang="pt-BR" b="1" dirty="0"/>
              <a:t>variáveis</a:t>
            </a:r>
            <a:r>
              <a:rPr lang="pt-BR" dirty="0"/>
              <a:t> ou </a:t>
            </a:r>
            <a:r>
              <a:rPr lang="pt-BR" b="1" dirty="0"/>
              <a:t>atributos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998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FF7D4-3300-5269-A925-FE18A465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20B168-98DD-3144-6F78-633FEBBE3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uma biblioteca Python, usada para trabalhar com estes </a:t>
            </a:r>
            <a:r>
              <a:rPr lang="pt-BR" b="1" dirty="0"/>
              <a:t>conjuntos de dados.</a:t>
            </a:r>
          </a:p>
          <a:p>
            <a:r>
              <a:rPr lang="pt-BR" dirty="0"/>
              <a:t>Tem funções para analisar, limpar, explorar e manipular dados.</a:t>
            </a:r>
          </a:p>
          <a:p>
            <a:r>
              <a:rPr lang="pt-BR" dirty="0"/>
              <a:t>O nome "Pandas" faz referência tanto a "</a:t>
            </a:r>
            <a:r>
              <a:rPr lang="pt-BR" u="sng" dirty="0" err="1"/>
              <a:t>Panel</a:t>
            </a:r>
            <a:r>
              <a:rPr lang="pt-BR" u="sng" dirty="0"/>
              <a:t> Data</a:t>
            </a:r>
            <a:r>
              <a:rPr lang="pt-BR" dirty="0"/>
              <a:t>“, quanto a "</a:t>
            </a:r>
            <a:r>
              <a:rPr lang="pt-BR" u="sng" dirty="0"/>
              <a:t>Python Data </a:t>
            </a:r>
            <a:r>
              <a:rPr lang="pt-BR" u="sng" dirty="0" err="1"/>
              <a:t>Analysis</a:t>
            </a:r>
            <a:r>
              <a:rPr lang="pt-BR" dirty="0"/>
              <a:t>“</a:t>
            </a:r>
          </a:p>
          <a:p>
            <a:r>
              <a:rPr lang="pt-BR" dirty="0"/>
              <a:t>Possui estruturas e vários recursos para se analisar e manipular dados, obtendo conclusões estatísticas de um conjunto de dados.</a:t>
            </a:r>
          </a:p>
        </p:txBody>
      </p:sp>
    </p:spTree>
    <p:extLst>
      <p:ext uri="{BB962C8B-B14F-4D97-AF65-F5344CB8AC3E}">
        <p14:creationId xmlns:p14="http://schemas.microsoft.com/office/powerpoint/2010/main" val="3980378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CF044-0828-BA97-25F5-A61908C8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Séries Pandas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64A1CF-A197-7D3C-F8E3-7DDDB6F40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série de Pandas é como uma coluna em uma tabela.</a:t>
            </a:r>
          </a:p>
          <a:p>
            <a:r>
              <a:rPr lang="pt-BR" dirty="0"/>
              <a:t>É uma matriz unidimensional que contém dados de qualquer tipo.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As Séries, apenas lembram as listas do Python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2B29D4-717C-11FC-11DA-BF4FB9DF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69" y="2974542"/>
            <a:ext cx="4646921" cy="167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75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BA804-4CA0-360B-98A0-40FD2B3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82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246EB3C-7C88-D149-C5CA-FCE5D550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1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391ADC2-30F9-4D64-1599-E976E219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b="1" dirty="0"/>
              <a:t>OBS: </a:t>
            </a:r>
            <a:r>
              <a:rPr lang="pt-BR" sz="3600" dirty="0"/>
              <a:t>Diferenças de Séries para Lista</a:t>
            </a:r>
          </a:p>
          <a:p>
            <a:r>
              <a:rPr lang="pt-BR" dirty="0"/>
              <a:t>Para esta atividade, criar um novo ambiente virtual com o nome de </a:t>
            </a:r>
            <a:r>
              <a:rPr lang="pt-BR" sz="4000" dirty="0" err="1">
                <a:solidFill>
                  <a:srgbClr val="FF0000"/>
                </a:solidFill>
              </a:rPr>
              <a:t>venv_novo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82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2404B-C53E-7A56-E5BB-737B88A1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Criando duas listas</a:t>
            </a:r>
            <a:br>
              <a:rPr lang="pt-BR" dirty="0"/>
            </a:br>
            <a:r>
              <a:rPr lang="pt-BR" dirty="0"/>
              <a:t>Transformando em Séries pelo Pandas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AE006CE-F185-4472-8883-0976F13AB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270" y="2316163"/>
            <a:ext cx="8573460" cy="340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82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655A3-0BAC-0EA9-6A65-5DF0DF3E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Séries no Pandas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59E2D07-5F55-2E3B-5A3C-932A8E2A5F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7032" y="3374420"/>
            <a:ext cx="9565701" cy="2382913"/>
          </a:xfr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D309B2-5588-7EC4-A108-D1272EAD0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7" y="1862667"/>
            <a:ext cx="10710333" cy="4314296"/>
          </a:xfrm>
        </p:spPr>
        <p:txBody>
          <a:bodyPr/>
          <a:lstStyle/>
          <a:p>
            <a:r>
              <a:rPr lang="pt-BR" dirty="0"/>
              <a:t>Selecionando um valor específico pelo índice</a:t>
            </a:r>
          </a:p>
          <a:p>
            <a:r>
              <a:rPr lang="pt-BR" dirty="0"/>
              <a:t>Selecionando múltiplos valores</a:t>
            </a:r>
          </a:p>
        </p:txBody>
      </p:sp>
    </p:spTree>
    <p:extLst>
      <p:ext uri="{BB962C8B-B14F-4D97-AF65-F5344CB8AC3E}">
        <p14:creationId xmlns:p14="http://schemas.microsoft.com/office/powerpoint/2010/main" val="397075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0C558-7A72-F80A-ABD0-D9DF4131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Aplicação de Filtros | Operação Aritmética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45EDF1-59C7-0C48-69D8-B445FD611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406467" cy="4351338"/>
          </a:xfrm>
        </p:spPr>
        <p:txBody>
          <a:bodyPr/>
          <a:lstStyle/>
          <a:p>
            <a:r>
              <a:rPr lang="pt-BR" dirty="0"/>
              <a:t>Filtrando produtos com estoque abaixo de 20</a:t>
            </a:r>
          </a:p>
          <a:p>
            <a:r>
              <a:rPr lang="pt-BR" dirty="0"/>
              <a:t>Operação aritmética: aumentar estoque em 5 unidades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4A7192A-27C1-B618-7281-12C496C9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89" y="3220135"/>
            <a:ext cx="9627212" cy="24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12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E28F9-1F82-5320-1385-C7136044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Suporte a valor nulo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E49FF-FC4E-9059-6E70-1F4A13596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61134" cy="4351338"/>
          </a:xfrm>
        </p:spPr>
        <p:txBody>
          <a:bodyPr/>
          <a:lstStyle/>
          <a:p>
            <a:r>
              <a:rPr lang="pt-BR" dirty="0"/>
              <a:t>Incluindo um valor nulo para simular a falta de 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FEA669C-5EBC-B1C1-055E-CBC0026F7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259616" cy="173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99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45939-2994-DD83-5196-7D8C0F9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aritmética com Séries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3DA961-7119-262C-B870-8BC492076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Operações Aritméticas entre Séries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0DD408-8BBC-681F-A4DD-76294FD01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" y="2467992"/>
            <a:ext cx="11975596" cy="259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6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EADB650-50AC-9202-0FEC-5550DF8D9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1</a:t>
            </a:r>
          </a:p>
        </p:txBody>
      </p:sp>
    </p:spTree>
    <p:extLst>
      <p:ext uri="{BB962C8B-B14F-4D97-AF65-F5344CB8AC3E}">
        <p14:creationId xmlns:p14="http://schemas.microsoft.com/office/powerpoint/2010/main" val="3020601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B5633-972D-0B5E-93BC-CE5CD903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2</a:t>
            </a:r>
          </a:p>
        </p:txBody>
      </p:sp>
    </p:spTree>
    <p:extLst>
      <p:ext uri="{BB962C8B-B14F-4D97-AF65-F5344CB8AC3E}">
        <p14:creationId xmlns:p14="http://schemas.microsoft.com/office/powerpoint/2010/main" val="3642812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F5698-14C5-A17B-AC00-4AA6731E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DataFrame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931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76F81-1158-FFA9-D364-B292B968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198437"/>
            <a:ext cx="10515600" cy="1325563"/>
          </a:xfrm>
        </p:spPr>
        <p:txBody>
          <a:bodyPr/>
          <a:lstStyle/>
          <a:p>
            <a:r>
              <a:rPr lang="pt-BR" dirty="0" err="1"/>
              <a:t>DataFrame</a:t>
            </a:r>
            <a:r>
              <a:rPr lang="pt-BR" dirty="0"/>
              <a:t> </a:t>
            </a:r>
            <a:r>
              <a:rPr lang="pt-BR" b="0" dirty="0"/>
              <a:t>(Estrutura do Pandas)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38D627-0B35-8091-940F-3D849321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1" y="1236133"/>
            <a:ext cx="11870266" cy="5423430"/>
          </a:xfrm>
        </p:spPr>
        <p:txBody>
          <a:bodyPr>
            <a:normAutofit/>
          </a:bodyPr>
          <a:lstStyle/>
          <a:p>
            <a:r>
              <a:rPr lang="pt-BR" dirty="0"/>
              <a:t>Estrutura de dados bidimensional, oferecida pela biblioteca </a:t>
            </a:r>
            <a:r>
              <a:rPr lang="pt-BR" b="1" dirty="0"/>
              <a:t>Pandas</a:t>
            </a:r>
            <a:r>
              <a:rPr lang="pt-BR" dirty="0"/>
              <a:t> em Python. Armazena e organiza dados tabulares, onde cada coluna pode conter um tipo de dado diferente. </a:t>
            </a:r>
            <a:r>
              <a:rPr lang="pt-BR" b="1" dirty="0"/>
              <a:t>Semelhante a uma tabela de dados, planilhas</a:t>
            </a:r>
            <a:r>
              <a:rPr lang="pt-BR" dirty="0"/>
              <a:t> etc.</a:t>
            </a:r>
            <a:endParaRPr lang="pt-BR" sz="500" dirty="0"/>
          </a:p>
          <a:p>
            <a:r>
              <a:rPr lang="pt-BR" b="1" dirty="0"/>
              <a:t>Características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Pode ser criado a partir de um arquivo </a:t>
            </a:r>
            <a:r>
              <a:rPr lang="pt-BR" b="1" dirty="0"/>
              <a:t>CSV</a:t>
            </a:r>
          </a:p>
          <a:p>
            <a:pPr lvl="1"/>
            <a:r>
              <a:rPr lang="pt-BR" dirty="0"/>
              <a:t>Armazena dados em formato tabular </a:t>
            </a:r>
            <a:r>
              <a:rPr lang="pt-BR" b="1" dirty="0"/>
              <a:t>(linhas e colunas).</a:t>
            </a:r>
          </a:p>
          <a:p>
            <a:pPr lvl="1"/>
            <a:r>
              <a:rPr lang="pt-BR" dirty="0"/>
              <a:t>Oferece manipulação, </a:t>
            </a:r>
            <a:r>
              <a:rPr lang="pt-BR" b="1" dirty="0"/>
              <a:t>filtragem</a:t>
            </a:r>
            <a:r>
              <a:rPr lang="pt-BR" dirty="0"/>
              <a:t> e análise de dados.</a:t>
            </a:r>
          </a:p>
          <a:p>
            <a:pPr lvl="1"/>
            <a:r>
              <a:rPr lang="pt-BR" dirty="0"/>
              <a:t>Cada coluna em um </a:t>
            </a:r>
            <a:r>
              <a:rPr lang="pt-BR" b="1" dirty="0" err="1"/>
              <a:t>DataFrame</a:t>
            </a:r>
            <a:r>
              <a:rPr lang="pt-BR" dirty="0"/>
              <a:t> é uma Série (ou </a:t>
            </a:r>
            <a:r>
              <a:rPr lang="pt-BR" b="1" dirty="0" err="1"/>
              <a:t>array</a:t>
            </a:r>
            <a:r>
              <a:rPr lang="pt-BR" dirty="0"/>
              <a:t> </a:t>
            </a:r>
            <a:r>
              <a:rPr lang="pt-BR" b="1" dirty="0"/>
              <a:t>unidimensional “Listas”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É amplamente usado em a análise de dados, pois permite operações matemáticas, estatísticas e de manipulação de dados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3131055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42C70-ADBA-8F71-69AB-619EA2E2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/>
              <a:t>DataFrame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56AF7A-7543-604D-7EC1-FC8CD9BA7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99" y="1690688"/>
            <a:ext cx="6043236" cy="416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28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2201F-AF07-07BF-74BB-A258FC4F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08" y="416633"/>
            <a:ext cx="10886792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Imprimindo as Séries de </a:t>
            </a:r>
            <a:br>
              <a:rPr lang="pt-BR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Variáveis Quantitativas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B7126A-2257-802A-714E-2DA52A167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09" y="2089286"/>
            <a:ext cx="5541906" cy="366030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6CDFE1B-D1FE-446D-B5D4-9383E95F2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89286"/>
            <a:ext cx="5694395" cy="342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36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9FCA0-B04A-8A6A-5CEF-EA8D1C74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Qualitativas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34D29A-E92B-AED9-E55C-5521DE83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61" y="1879601"/>
            <a:ext cx="7707781" cy="353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50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603C82D-8A85-A0EB-966B-688090B2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Dataset</a:t>
            </a:r>
            <a:r>
              <a:rPr lang="pt-BR" dirty="0"/>
              <a:t> | </a:t>
            </a:r>
            <a:r>
              <a:rPr lang="pt-BR" b="1" dirty="0" err="1"/>
              <a:t>DataFrame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9D44031-7109-E7B8-D022-1A60C49EF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DataSet</a:t>
            </a:r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94FD1A6-4095-CDA6-4236-DA243E833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4663545" cy="3684588"/>
          </a:xfrm>
        </p:spPr>
        <p:txBody>
          <a:bodyPr>
            <a:normAutofit/>
          </a:bodyPr>
          <a:lstStyle/>
          <a:p>
            <a:r>
              <a:rPr lang="pt-BR" b="1" dirty="0"/>
              <a:t>Termo genérico, </a:t>
            </a:r>
            <a:r>
              <a:rPr lang="pt-BR" dirty="0"/>
              <a:t>que se refere a </a:t>
            </a:r>
            <a:r>
              <a:rPr lang="pt-BR" b="1" u="sng" dirty="0"/>
              <a:t>qualquer</a:t>
            </a:r>
            <a:r>
              <a:rPr lang="pt-BR" u="sng" dirty="0"/>
              <a:t> </a:t>
            </a:r>
            <a:r>
              <a:rPr lang="pt-BR" b="1" u="sng" dirty="0"/>
              <a:t>coleção</a:t>
            </a:r>
            <a:r>
              <a:rPr lang="pt-BR" u="sng" dirty="0"/>
              <a:t> de </a:t>
            </a:r>
            <a:r>
              <a:rPr lang="pt-BR" b="1" u="sng" dirty="0"/>
              <a:t>dados</a:t>
            </a:r>
            <a:r>
              <a:rPr lang="pt-BR" dirty="0"/>
              <a:t>, independentemente de como eles são armazenados.</a:t>
            </a:r>
          </a:p>
          <a:p>
            <a:r>
              <a:rPr lang="pt-BR" b="1" dirty="0" err="1"/>
              <a:t>Dataset</a:t>
            </a:r>
            <a:r>
              <a:rPr lang="pt-BR" dirty="0"/>
              <a:t> é a coleção de dados em si.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33C1CAD2-0965-B80B-D4C2-C5241B912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72667" y="1681163"/>
            <a:ext cx="5682721" cy="823912"/>
          </a:xfrm>
        </p:spPr>
        <p:txBody>
          <a:bodyPr/>
          <a:lstStyle/>
          <a:p>
            <a:r>
              <a:rPr lang="pt-BR" dirty="0" err="1"/>
              <a:t>DataFrame</a:t>
            </a:r>
            <a:endParaRPr lang="pt-BR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9409E1D-DE7B-DFBB-A48A-2C867DA9B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72667" y="2505075"/>
            <a:ext cx="6214533" cy="3684588"/>
          </a:xfrm>
        </p:spPr>
        <p:txBody>
          <a:bodyPr>
            <a:normAutofit/>
          </a:bodyPr>
          <a:lstStyle/>
          <a:p>
            <a:r>
              <a:rPr lang="pt-BR" b="1" dirty="0"/>
              <a:t>Estrutura</a:t>
            </a:r>
            <a:r>
              <a:rPr lang="pt-BR" dirty="0"/>
              <a:t> de </a:t>
            </a:r>
            <a:r>
              <a:rPr lang="pt-BR" b="1" dirty="0"/>
              <a:t>dados</a:t>
            </a:r>
            <a:r>
              <a:rPr lang="pt-BR" dirty="0"/>
              <a:t> </a:t>
            </a:r>
            <a:r>
              <a:rPr lang="pt-BR" b="1" dirty="0"/>
              <a:t>específica</a:t>
            </a:r>
            <a:r>
              <a:rPr lang="pt-BR" dirty="0"/>
              <a:t> da </a:t>
            </a:r>
            <a:r>
              <a:rPr lang="pt-BR" b="1" dirty="0"/>
              <a:t>biblioteca</a:t>
            </a:r>
            <a:r>
              <a:rPr lang="pt-BR" dirty="0"/>
              <a:t> </a:t>
            </a:r>
            <a:r>
              <a:rPr lang="pt-BR" b="1" dirty="0"/>
              <a:t>Pandas</a:t>
            </a:r>
            <a:r>
              <a:rPr lang="pt-BR" dirty="0"/>
              <a:t>, usada para representar e </a:t>
            </a:r>
            <a:r>
              <a:rPr lang="pt-BR" b="1" dirty="0"/>
              <a:t>manipular</a:t>
            </a:r>
            <a:r>
              <a:rPr lang="pt-BR" dirty="0"/>
              <a:t> </a:t>
            </a:r>
            <a:r>
              <a:rPr lang="pt-BR" b="1" dirty="0" err="1"/>
              <a:t>datasets</a:t>
            </a:r>
            <a:r>
              <a:rPr lang="pt-BR" dirty="0"/>
              <a:t> em </a:t>
            </a:r>
            <a:r>
              <a:rPr lang="pt-BR" b="1" dirty="0"/>
              <a:t>Python</a:t>
            </a:r>
          </a:p>
          <a:p>
            <a:r>
              <a:rPr lang="pt-BR" b="1" dirty="0" err="1"/>
              <a:t>DataFrame</a:t>
            </a:r>
            <a:r>
              <a:rPr lang="pt-BR" dirty="0"/>
              <a:t> é uma forma </a:t>
            </a:r>
            <a:r>
              <a:rPr lang="pt-BR" b="1" dirty="0"/>
              <a:t>específica</a:t>
            </a:r>
            <a:r>
              <a:rPr lang="pt-BR" dirty="0"/>
              <a:t> de organizar e manipular um </a:t>
            </a:r>
            <a:r>
              <a:rPr lang="pt-BR" b="1" dirty="0" err="1"/>
              <a:t>dataset</a:t>
            </a:r>
            <a:r>
              <a:rPr lang="pt-BR" dirty="0"/>
              <a:t> em Python, utilizando a biblioteca </a:t>
            </a:r>
            <a:r>
              <a:rPr lang="pt-BR" b="1" dirty="0"/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41609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8DA2F75-6C8A-C16C-C7E1-39760DA1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03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44A1D977-BFC5-D392-2B3D-6D7532703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801668"/>
            <a:ext cx="10515600" cy="4351338"/>
          </a:xfrm>
        </p:spPr>
        <p:txBody>
          <a:bodyPr/>
          <a:lstStyle/>
          <a:p>
            <a:r>
              <a:rPr lang="pt-BR" dirty="0"/>
              <a:t>A partir da imagem, crie um dicionário.</a:t>
            </a:r>
          </a:p>
          <a:p>
            <a:r>
              <a:rPr lang="pt-BR" dirty="0"/>
              <a:t>Converta-o p/ </a:t>
            </a:r>
            <a:r>
              <a:rPr lang="pt-BR" dirty="0" err="1"/>
              <a:t>DataFrame</a:t>
            </a:r>
            <a:r>
              <a:rPr lang="pt-BR" dirty="0"/>
              <a:t> do Pandas.</a:t>
            </a:r>
          </a:p>
          <a:p>
            <a:r>
              <a:rPr lang="pt-BR" dirty="0"/>
              <a:t>Imprima-o na tela.</a:t>
            </a:r>
          </a:p>
        </p:txBody>
      </p:sp>
      <p:pic>
        <p:nvPicPr>
          <p:cNvPr id="11" name="Imagem 10" descr="Tabela&#10;&#10;O conteúdo gerado por IA pode estar incorreto.">
            <a:extLst>
              <a:ext uri="{FF2B5EF4-FFF2-40B4-BE49-F238E27FC236}">
                <a16:creationId xmlns:a16="http://schemas.microsoft.com/office/drawing/2014/main" id="{820D3733-3A89-8C17-DBDF-663DFCF54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4" y="3505783"/>
            <a:ext cx="12073046" cy="240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11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5D84C3A-3F55-5516-767E-62559EC6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3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5A636F-66CB-C319-2BCF-A1C95D59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Operações com </a:t>
            </a:r>
            <a:r>
              <a:rPr lang="pt-BR" dirty="0" err="1"/>
              <a:t>DataFrame</a:t>
            </a:r>
            <a:endParaRPr lang="pt-BR" dirty="0"/>
          </a:p>
          <a:p>
            <a:r>
              <a:rPr lang="pt-BR" dirty="0"/>
              <a:t>Lendo arquivo do Excel</a:t>
            </a:r>
          </a:p>
        </p:txBody>
      </p:sp>
    </p:spTree>
    <p:extLst>
      <p:ext uri="{BB962C8B-B14F-4D97-AF65-F5344CB8AC3E}">
        <p14:creationId xmlns:p14="http://schemas.microsoft.com/office/powerpoint/2010/main" val="2747651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C43EF2E-9769-1A11-3ED8-C3786234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066"/>
            <a:ext cx="10515600" cy="1325563"/>
          </a:xfrm>
        </p:spPr>
        <p:txBody>
          <a:bodyPr/>
          <a:lstStyle/>
          <a:p>
            <a:r>
              <a:rPr lang="pt-BR" dirty="0" err="1"/>
              <a:t>DataFrame</a:t>
            </a:r>
            <a:r>
              <a:rPr lang="pt-BR" dirty="0"/>
              <a:t> | Arquivos | Operações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544853F-E338-B01F-094F-2D646416D5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20582" y="3064933"/>
            <a:ext cx="8950836" cy="3793067"/>
          </a:xfrm>
        </p:spPr>
      </p:pic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7AA85669-8665-6805-045B-FB6497F0C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185862"/>
            <a:ext cx="10964332" cy="4486275"/>
          </a:xfrm>
        </p:spPr>
        <p:txBody>
          <a:bodyPr/>
          <a:lstStyle/>
          <a:p>
            <a:r>
              <a:rPr lang="pt-BR" dirty="0"/>
              <a:t>Lendo um arquivo Excel com o método </a:t>
            </a:r>
            <a:r>
              <a:rPr lang="pt-BR" b="1" dirty="0" err="1"/>
              <a:t>read_excel</a:t>
            </a:r>
            <a:endParaRPr lang="pt-BR" b="1" dirty="0"/>
          </a:p>
          <a:p>
            <a:r>
              <a:rPr lang="pt-BR" dirty="0"/>
              <a:t>Exibindo as primeiras linhas do </a:t>
            </a:r>
            <a:r>
              <a:rPr lang="pt-BR" dirty="0" err="1"/>
              <a:t>DataFrame</a:t>
            </a:r>
            <a:endParaRPr lang="pt-BR" dirty="0"/>
          </a:p>
          <a:p>
            <a:r>
              <a:rPr lang="pt-BR" b="1" dirty="0"/>
              <a:t>OBS: É necessário</a:t>
            </a:r>
            <a:r>
              <a:rPr lang="pt-BR" dirty="0"/>
              <a:t> Instalar a biblioteca </a:t>
            </a:r>
            <a:r>
              <a:rPr lang="pt-BR" b="1" dirty="0" err="1"/>
              <a:t>openpyxl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8247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0785BF9-EEB5-ECCF-F19B-544504CE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9142"/>
          </a:xfrm>
        </p:spPr>
        <p:txBody>
          <a:bodyPr>
            <a:normAutofit/>
          </a:bodyPr>
          <a:lstStyle/>
          <a:p>
            <a:r>
              <a:rPr lang="pt-BR" dirty="0"/>
              <a:t>Operações com </a:t>
            </a:r>
            <a:r>
              <a:rPr lang="pt-BR" dirty="0" err="1"/>
              <a:t>DataFrame</a:t>
            </a:r>
            <a:r>
              <a:rPr lang="pt-BR" dirty="0"/>
              <a:t> </a:t>
            </a:r>
            <a:br>
              <a:rPr lang="pt-BR" dirty="0"/>
            </a:br>
            <a:r>
              <a:rPr lang="pt-BR" sz="4000" b="0" dirty="0"/>
              <a:t>(Maior Valor e Menor Valor)</a:t>
            </a:r>
            <a:endParaRPr lang="pt-BR" b="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9908877-5C5C-86A9-EFBD-30F754F95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50533"/>
            <a:ext cx="10515600" cy="4026430"/>
          </a:xfrm>
        </p:spPr>
        <p:txBody>
          <a:bodyPr/>
          <a:lstStyle/>
          <a:p>
            <a:r>
              <a:rPr lang="pt-BR" dirty="0"/>
              <a:t>Valor máximo de faturamento total</a:t>
            </a:r>
          </a:p>
          <a:p>
            <a:r>
              <a:rPr lang="pt-BR" dirty="0"/>
              <a:t>Valor menor de faturamento</a:t>
            </a:r>
          </a:p>
        </p:txBody>
      </p:sp>
      <p:pic>
        <p:nvPicPr>
          <p:cNvPr id="18" name="Espaço Reservado para Conteúdo 17">
            <a:extLst>
              <a:ext uri="{FF2B5EF4-FFF2-40B4-BE49-F238E27FC236}">
                <a16:creationId xmlns:a16="http://schemas.microsoft.com/office/drawing/2014/main" id="{18772A23-4F24-056B-8C0E-9391A4C50D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5441" y="3759200"/>
            <a:ext cx="10445624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16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67A99-5294-626A-6DBB-A9F4C420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Operações com </a:t>
            </a:r>
            <a:r>
              <a:rPr lang="pt-BR" dirty="0" err="1"/>
              <a:t>DataFrame</a:t>
            </a:r>
            <a:r>
              <a:rPr lang="pt-BR" dirty="0"/>
              <a:t> </a:t>
            </a:r>
            <a:br>
              <a:rPr lang="pt-BR" dirty="0"/>
            </a:br>
            <a:r>
              <a:rPr lang="pt-BR" sz="4800" b="0" dirty="0"/>
              <a:t>(Soma e Média)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3EF6C-75A7-D3FD-96B5-531F9006B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930467" cy="4351338"/>
          </a:xfrm>
        </p:spPr>
        <p:txBody>
          <a:bodyPr/>
          <a:lstStyle/>
          <a:p>
            <a:r>
              <a:rPr lang="pt-BR" dirty="0"/>
              <a:t>Somatório das unidades vendidas</a:t>
            </a:r>
          </a:p>
          <a:p>
            <a:r>
              <a:rPr lang="pt-BR" dirty="0"/>
              <a:t>Média dos preços por unidade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B3AC18-6B8A-0903-05FD-358B47B1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29661"/>
            <a:ext cx="10202334" cy="360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39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1319</Words>
  <Application>Microsoft Office PowerPoint</Application>
  <PresentationFormat>Widescreen</PresentationFormat>
  <Paragraphs>168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4" baseType="lpstr">
      <vt:lpstr>Aptos</vt:lpstr>
      <vt:lpstr>Arial</vt:lpstr>
      <vt:lpstr>Calibri</vt:lpstr>
      <vt:lpstr>Calibri (Corpo)</vt:lpstr>
      <vt:lpstr>Tema do Office</vt:lpstr>
      <vt:lpstr>Criar e manipular dados utilizando matemática estatística  </vt:lpstr>
      <vt:lpstr>Estatística</vt:lpstr>
      <vt:lpstr>População, Censo, Amostragem e Amostra</vt:lpstr>
      <vt:lpstr>Variáveis</vt:lpstr>
      <vt:lpstr>Variáveis Quantitativas e Qualitativas</vt:lpstr>
      <vt:lpstr>Variáveis Quantitativas: 2 tipos</vt:lpstr>
      <vt:lpstr>Variáveis Qualitativas: 2 tipos</vt:lpstr>
      <vt:lpstr>População e Amostra</vt:lpstr>
      <vt:lpstr>Apresentação do PowerPoint</vt:lpstr>
      <vt:lpstr>Ambiente de Desenvolvimento Virtual</vt:lpstr>
      <vt:lpstr>VIRTUAL ENVIROMENTS (venv) Ambiente Virtual </vt:lpstr>
      <vt:lpstr>AMBIENTE VIRTUAL (venv)</vt:lpstr>
      <vt:lpstr>requirements.txt</vt:lpstr>
      <vt:lpstr>Utilizar VENV que está em outro local:</vt:lpstr>
      <vt:lpstr>Ambiente Virtual</vt:lpstr>
      <vt:lpstr>DataSets</vt:lpstr>
      <vt:lpstr>DataSet (Conjunto de Dados)</vt:lpstr>
      <vt:lpstr>Pandas</vt:lpstr>
      <vt:lpstr>Séries Pandas</vt:lpstr>
      <vt:lpstr>Apresentação do PowerPoint</vt:lpstr>
      <vt:lpstr>Exemplo 1</vt:lpstr>
      <vt:lpstr>Criando duas listas Transformando em Séries pelo Pandas</vt:lpstr>
      <vt:lpstr>Séries no Pandas</vt:lpstr>
      <vt:lpstr>Aplicação de Filtros | Operação Aritmética</vt:lpstr>
      <vt:lpstr>Suporte a valor nulo</vt:lpstr>
      <vt:lpstr>Operação aritmética com Séries</vt:lpstr>
      <vt:lpstr>Atividade 1</vt:lpstr>
      <vt:lpstr>Atividade 2</vt:lpstr>
      <vt:lpstr>DataFrame</vt:lpstr>
      <vt:lpstr>DataFrame (Estrutura do Pandas)</vt:lpstr>
      <vt:lpstr>Criando DataFrame</vt:lpstr>
      <vt:lpstr>Imprimindo as Séries de  Variáveis Quantitativas</vt:lpstr>
      <vt:lpstr>Variáveis Qualitativas</vt:lpstr>
      <vt:lpstr>Dataset | DataFrame</vt:lpstr>
      <vt:lpstr>ATIVIDADE 03</vt:lpstr>
      <vt:lpstr>Exemplo 3</vt:lpstr>
      <vt:lpstr>DataFrame | Arquivos | Operações</vt:lpstr>
      <vt:lpstr>Operações com DataFrame  (Maior Valor e Menor Valor)</vt:lpstr>
      <vt:lpstr>Operações com DataFrame  (Soma e Média)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UC2</dc:title>
  <dc:creator>Claudenir Ferreira</dc:creator>
  <cp:lastModifiedBy>CLAUDENIR DE CARVALHO FERREIRA</cp:lastModifiedBy>
  <cp:revision>48</cp:revision>
  <dcterms:created xsi:type="dcterms:W3CDTF">2024-09-22T13:55:46Z</dcterms:created>
  <dcterms:modified xsi:type="dcterms:W3CDTF">2026-01-09T01:01:12Z</dcterms:modified>
</cp:coreProperties>
</file>